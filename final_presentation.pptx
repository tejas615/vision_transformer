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CNN-Enhanced Vision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2C39A"/>
                </a:solidFill>
              </a:defRPr>
            </a:pPr>
            <a:r>
              <a:t>Improving Data Efficiency Through Inductive Biases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Tejas Deshmukh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Roll Number: 230150027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Base Paper: An Image is Worth 16x16 Words (Dosovitskiy et al., ICLR 2021)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Introduction: The Problem with Pure Transformers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4572000"/>
          </a:xfrm>
          <a:prstGeom prst="rect">
            <a:avLst/>
          </a:prstGeom>
          <a:solidFill>
            <a:srgbClr val="FFF0F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E74C3C"/>
                </a:solidFill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Pure Vision Transformers lack inductive biases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No built-in locality: doesn't know neighboring pixels are related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No translation equivariance: must learn that a cat is a cat everywhere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Requires massive datasets: 14M-300M images for pre-training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Poor performance on small datasets: ~40% on CIFAR-10 without pre-training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97280"/>
            <a:ext cx="3931920" cy="4572000"/>
          </a:xfrm>
          <a:prstGeom prst="rect">
            <a:avLst/>
          </a:prstGeom>
          <a:solidFill>
            <a:srgbClr val="F0FF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27AE60"/>
                </a:solidFill>
              </a:defRPr>
            </a:pPr>
            <a:r>
              <a:t>OUR SOLUTION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Hybrid CNN-Transformer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CNNs provide locality bias: small filters process local regions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CNNs provide translation equivariance: weight sharing across image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Transformers still capture global dependencies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</a:defRPr>
            </a:pPr>
            <a:r>
              <a:t>• Result: 13% better accuracy on CIFAR-10 with same training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Architecture Comparison: The Key Difference</a:t>
            </a:r>
          </a:p>
        </p:txBody>
      </p:sp>
      <p:pic>
        <p:nvPicPr>
          <p:cNvPr id="3" name="Picture 2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7406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Key Insight: Only the patch embedding differs! CNN feature extraction provides inductive biases while keeping Transformer's global modeling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Vision Transformer: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7293"/>
                </a:solidFill>
              </a:defRPr>
            </a:pPr>
            <a:r>
              <a:t>1️ Patch 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Split image into 16×16 patches (e.g., 32×32 → 4×4 = 16 patches)</a:t>
            </a:r>
          </a:p>
          <a:p>
            <a:r>
              <a:t>• Flatten each patch: 16×16×3 = 768 dimensions</a:t>
            </a:r>
          </a:p>
          <a:p>
            <a:r>
              <a:t>• Linear projection to embedding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3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7293"/>
                </a:solidFill>
              </a:defRPr>
            </a:pPr>
            <a:r>
              <a:t>2️ Position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199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Add learnable position embeddings to each patch</a:t>
            </a:r>
          </a:p>
          <a:p>
            <a:r>
              <a:t>• Tells model spatial location of each patch</a:t>
            </a:r>
          </a:p>
          <a:p>
            <a:r>
              <a:t>• Prepend special [CLS] token for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59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7293"/>
                </a:solidFill>
              </a:defRPr>
            </a:pPr>
            <a:r>
              <a:t>3️ Transformer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8-12 layers of Multi-Head Self-Attention + MLP</a:t>
            </a:r>
          </a:p>
          <a:p>
            <a:r>
              <a:t>• Each patch attends to all other patches</a:t>
            </a:r>
          </a:p>
          <a:p>
            <a:r>
              <a:t>• Captures global relationships across entire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5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7293"/>
                </a:solidFill>
              </a:defRPr>
            </a:pPr>
            <a:r>
              <a:t>4️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Extract [CLS] token representation from final layer</a:t>
            </a:r>
          </a:p>
          <a:p>
            <a:r>
              <a:t>• Pass through MLP head</a:t>
            </a:r>
          </a:p>
          <a:p>
            <a:r>
              <a:t>• Softmax over class probabilities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Our Hybrid Approach: CNN + Transformer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AE6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800" b="1">
                <a:solidFill>
                  <a:srgbClr val="02C39A"/>
                </a:solidFill>
              </a:defRPr>
            </a:pPr>
            <a:r>
              <a:t>The Only Change: CNN Patch Embedding</a:t>
            </a:r>
          </a:p>
          <a:p>
            <a:pPr>
              <a:spcBef>
                <a:spcPts val="1000"/>
              </a:spcBef>
              <a:defRPr sz="1400">
                <a:solidFill>
                  <a:srgbClr val="2C3E50"/>
                </a:solidFill>
              </a:defRPr>
            </a:pPr>
            <a:r>
              <a:t>Instead of: Linear projection (one convolutional layer)</a:t>
            </a:r>
            <a:br/>
            <a:r>
              <a:t>We use: Multi-layer CNN feature extractor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C7293"/>
                </a:solidFill>
              </a:defRPr>
            </a:pPr>
            <a:r>
              <a:t>CNN Feature Extraction Pipeline:</a:t>
            </a:r>
          </a:p>
          <a:p>
            <a:pPr>
              <a:spcAft>
                <a:spcPts val="400"/>
              </a:spcAft>
              <a:defRPr sz="1300" b="1">
                <a:solidFill>
                  <a:srgbClr val="065A82"/>
                </a:solidFill>
              </a:defRPr>
            </a:pPr>
            <a:r>
              <a:t>Layer 1: Conv2D(3 → 64, kernel=3×3, stride=2) + BatchNorm + GELU</a:t>
            </a:r>
          </a:p>
          <a:p>
            <a:pPr>
              <a:spcAft>
                <a:spcPts val="400"/>
              </a:spcAft>
              <a:defRPr sz="1100" i="1">
                <a:solidFill>
                  <a:srgbClr val="646464"/>
                </a:solidFill>
              </a:defRPr>
            </a:pPr>
            <a:r>
              <a:t>         32×32×3 → 16×16×64  [Captures edges, basic features]</a:t>
            </a:r>
          </a:p>
          <a:p>
            <a:pPr>
              <a:spcAft>
                <a:spcPts val="400"/>
              </a:spcAft>
              <a:defRPr sz="1100"/>
            </a:pPr>
          </a:p>
          <a:p>
            <a:pPr>
              <a:spcAft>
                <a:spcPts val="400"/>
              </a:spcAft>
              <a:defRPr sz="1300" b="1">
                <a:solidFill>
                  <a:srgbClr val="065A82"/>
                </a:solidFill>
              </a:defRPr>
            </a:pPr>
            <a:r>
              <a:t>Layer 2: Conv2D(64 → 128, kernel=3×3, stride=2) + BatchNorm + GELU</a:t>
            </a:r>
          </a:p>
          <a:p>
            <a:pPr>
              <a:spcAft>
                <a:spcPts val="400"/>
              </a:spcAft>
              <a:defRPr sz="1100" i="1">
                <a:solidFill>
                  <a:srgbClr val="646464"/>
                </a:solidFill>
              </a:defRPr>
            </a:pPr>
            <a:r>
              <a:t>         16×16×64 → 8×8×128  [Captures textures, patterns]</a:t>
            </a:r>
          </a:p>
          <a:p>
            <a:pPr>
              <a:spcAft>
                <a:spcPts val="400"/>
              </a:spcAft>
              <a:defRPr sz="1100"/>
            </a:pPr>
          </a:p>
          <a:p>
            <a:pPr>
              <a:spcAft>
                <a:spcPts val="400"/>
              </a:spcAft>
              <a:defRPr sz="1300" b="1">
                <a:solidFill>
                  <a:srgbClr val="065A82"/>
                </a:solidFill>
              </a:defRPr>
            </a:pPr>
            <a:r>
              <a:t>Layer 3: Conv2D(128 → 384, kernel=1×1) [Project to embedding dim]</a:t>
            </a:r>
          </a:p>
          <a:p>
            <a:pPr>
              <a:spcAft>
                <a:spcPts val="400"/>
              </a:spcAft>
              <a:defRPr sz="1100" i="1">
                <a:solidFill>
                  <a:srgbClr val="646464"/>
                </a:solidFill>
              </a:defRPr>
            </a:pPr>
            <a:r>
              <a:t>         8×8×128 → 8×8×384  [Final feature maps = patches]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7AE60"/>
                </a:solidFill>
              </a:defRPr>
            </a:pPr>
            <a:r>
              <a:t>Why This Improves Performance: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✓ Locality Bias: 3×3 filters naturally process local neighborhoods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✓ Translation Equivariance: Weight sharing means features work everywhere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✓ Hierarchical Features: Layer 1 (edges) → Layer 2 (textures) → Layer 3 (patterns)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✓ Data Efficiency: Built-in assumptions reduce learning burden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Experimental Results: Hybrid Outperforms ViT</a:t>
            </a:r>
          </a:p>
        </p:txBody>
      </p:sp>
      <p:pic>
        <p:nvPicPr>
          <p:cNvPr id="3" name="Picture 2" descr="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84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5A82"/>
                </a:solidFill>
              </a:defRPr>
            </a:pPr>
            <a:r>
              <a:t>Key Findings: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CIFAR-10: +7.5% accuracy improvement (67.3% → 74.8%)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CIFAR-100: +6.6% accuracy improvement (42.1% → 48.7%)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9% faster training time despite 7% more parameters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Gap is even larger with less training data (see next slide)</a:t>
            </a:r>
          </a:p>
          <a:p>
            <a:pPr>
              <a:spcAft>
                <a:spcPts val="1000"/>
              </a:spcAft>
              <a:defRPr sz="1500">
                <a:solidFill>
                  <a:srgbClr val="2C3E50"/>
                </a:solidFill>
              </a:defRPr>
            </a:pPr>
            <a:r>
              <a:t>Only minimal architecture change needed for big gains!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Data Efficiency: The Real Advantage</a:t>
            </a:r>
          </a:p>
        </p:txBody>
      </p:sp>
      <p:pic>
        <p:nvPicPr>
          <p:cNvPr id="3" name="Picture 2" descr="data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7680960" cy="46044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Critical Insight: Inductive biases matter most when data is scarce!</a:t>
            </a:r>
          </a:p>
          <a:p>
            <a:r>
              <a:t>With only 10% of data, Hybrid achieves ~52% accuracy vs ViT's ~45%.</a:t>
            </a:r>
          </a:p>
          <a:p>
            <a:r>
              <a:t>This makes Hybrid practical for real-world applications with limited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65A82"/>
                </a:solidFill>
              </a:defRPr>
            </a:pPr>
            <a:r>
              <a:t>Attention Visualization: What Does the Model See?</a:t>
            </a:r>
          </a:p>
        </p:txBody>
      </p:sp>
      <p:pic>
        <p:nvPicPr>
          <p:cNvPr id="3" name="Picture 2" descr="atten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These heatmaps show which parts of the image each layer attends to.</a:t>
            </a:r>
          </a:p>
          <a:p>
            <a:pPr algn="ctr">
              <a:defRPr sz="1300">
                <a:solidFill>
                  <a:srgbClr val="2C3E50"/>
                </a:solidFill>
              </a:defRPr>
            </a:pPr>
            <a:r>
              <a:t>Early layers: Focus on local regions (edges, textures)</a:t>
            </a:r>
          </a:p>
          <a:p>
            <a:pPr algn="ctr">
              <a:defRPr sz="1300">
                <a:solidFill>
                  <a:srgbClr val="2C3E50"/>
                </a:solidFill>
              </a:defRPr>
            </a:pPr>
            <a:r>
              <a:t>Later layers: Focus on object-relevant regions (semantic understanding)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Training Dynamics: Faster Convergence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60882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</a:defRPr>
            </a:pPr>
            <a:r>
              <a:t>Hybrid converges faster: Reaches 70% test accuracy in ~40 epochs vs ~70 epochs for ViT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7AE60"/>
                </a:solidFill>
              </a:defRPr>
            </a:pPr>
            <a:r>
              <a:t>What We Achieved: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Successfully implemented Vision Transformer from scratch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Designed and validated hybrid CNN-Transformer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Demonstrated 7.5% accuracy improvement on CIFAR-10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Proved inductive biases improve data efficiency on small datasets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Only 7% parameter increase for significant performance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C7293"/>
                </a:solidFill>
              </a:defRPr>
            </a:pPr>
            <a:r>
              <a:t>Future Directions: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Test on larger datasets (ImageNet-100, Tiny-ImageNet)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Implement other hybrid architectures (ConViT, CvT) for comparison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Experiment with different CNN backbones (ResNet blocks, EfficientNet)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Apply to other vision tasks (object detection, segmentation)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Optimize for mobile deployment (quantization, pruning)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2C39A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Tejas Deshmukh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Roll Number: 230150027</a:t>
            </a:r>
          </a:p>
          <a:p>
            <a:pPr algn="ctr">
              <a:defRPr sz="1600">
                <a:solidFill>
                  <a:srgbClr val="C8C8C8"/>
                </a:solidFill>
              </a:defRPr>
            </a:pPr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GitHub: https://github.com/tejas615/Vision_Transformer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